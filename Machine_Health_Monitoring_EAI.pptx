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62a0f1-6315-c445-1a09-d618cf561361}">
          <p14:sldIdLst>
            <p14:sldId id="256"/>
            <p14:sldId id="257"/>
            <p14:sldId id="258"/>
          </p14:sldIdLst>
        </p14:section>
        <p14:section name="Method" id="{2919de35-2dc6-2f8f-1ed5-cfc73a6347f7}">
          <p14:sldIdLst>
            <p14:sldId id="259"/>
            <p14:sldId id="260"/>
            <p14:sldId id="261"/>
          </p14:sldIdLst>
        </p14:section>
        <p14:section name="Results and Analysis" id="{b8655c01-97c7-a7e5-dff5-4789c864f724}">
          <p14:sldIdLst>
            <p14:sldId id="262"/>
            <p14:sldId id="263"/>
            <p14:sldId id="264"/>
          </p14:sldIdLst>
        </p14:section>
        <p14:section name="Model" id="{8fd3dd69-9416-1092-b07c-0109d7bf7a4a}">
          <p14:sldIdLst>
            <p14:sldId id="265"/>
            <p14:sldId id="266"/>
          </p14:sldIdLst>
        </p14:section>
        <p14:section name="Wrap-up" id="{154c72a7-f9c3-ca61-dae7-196259b24c8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EAI Lab  |  Machine Health Monitoring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EAI LAB ASSIGNMENT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Monitoring System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Temperature &amp; Vibration Based Predictive Maintenance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Department of Computer Engineering (AI &amp; ML)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Pimpri Chinchwad College of Engineering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Academic Year 2025–26</a:t>
            </a:r>
            <a:endParaRPr lang="en-US" sz="1600" dirty="0"/>
          </a:p>
        </p:txBody>
      </p:sp>
      <p:sp>
        <p:nvSpPr>
          <p:cNvPr id="6" name="visual panel"/>
          <p:cNvSpPr/>
          <p:nvPr/>
        </p:nvSpPr>
        <p:spPr>
          <a:xfrm>
            <a:off x="7589520" y="731520"/>
            <a:ext cx="4023360" cy="5394960"/>
          </a:xfrm>
          <a:prstGeom prst="roundRect">
            <a:avLst>
              <a:gd name="adj" fmla="val 3409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mperature icon circle"/>
          <p:cNvSpPr/>
          <p:nvPr/>
        </p:nvSpPr>
        <p:spPr>
          <a:xfrm>
            <a:off x="7955280" y="109728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emperature icon" descr="Temperatu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325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0" y="1234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Temperature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 thermocouples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12480" y="2011680"/>
            <a:ext cx="0" cy="7315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</a:ln>
        </p:spPr>
      </p:sp>
      <p:sp>
        <p:nvSpPr>
          <p:cNvPr id="11" name="Vibration icon circle"/>
          <p:cNvSpPr/>
          <p:nvPr/>
        </p:nvSpPr>
        <p:spPr>
          <a:xfrm>
            <a:off x="7955280" y="27432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Vibration icon" descr="Vibr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971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0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Vibration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 accelerometers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412480" y="3657600"/>
            <a:ext cx="0" cy="7315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</a:ln>
        </p:spPr>
      </p:sp>
      <p:sp>
        <p:nvSpPr>
          <p:cNvPr id="15" name="ML Classification icon circle"/>
          <p:cNvSpPr/>
          <p:nvPr/>
        </p:nvSpPr>
        <p:spPr>
          <a:xfrm>
            <a:off x="7955280" y="43891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ML Classification icon" descr="ML Classific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617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4526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ML 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Random Forest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55321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53896"/>
            <a:ext cx="52029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monitoring matters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Industrial machines can develop faults such as imbalance, looseness and angular misalignment before complete failure. Continuous monitoring of temperature and vibration can help identify abnormal machine behaviour.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6199632" y="1325880"/>
            <a:ext cx="5532120" cy="1783080"/>
          </a:xfrm>
          <a:prstGeom prst="roundRect">
            <a:avLst>
              <a:gd name="adj" fmla="val 5128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64224" y="1453896"/>
            <a:ext cx="52029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Traditional manual inspection may not detect early changes in machine condition.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Proposed solution: a machine health monitoring system that…</a:t>
            </a:r>
            <a:endParaRPr lang="en-US" sz="1800" dirty="0"/>
          </a:p>
        </p:txBody>
      </p:sp>
      <p:sp>
        <p:nvSpPr>
          <p:cNvPr id="8" name="solution card 1"/>
          <p:cNvSpPr/>
          <p:nvPr/>
        </p:nvSpPr>
        <p:spPr>
          <a:xfrm>
            <a:off x="457200" y="3840480"/>
            <a:ext cx="2130552" cy="2331720"/>
          </a:xfrm>
          <a:prstGeom prst="roundRect">
            <a:avLst>
              <a:gd name="adj" fmla="val 42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9" name="solution icon 1 circle"/>
          <p:cNvSpPr/>
          <p:nvPr/>
        </p:nvSpPr>
        <p:spPr>
          <a:xfrm>
            <a:off x="1156716" y="4023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olution icon 1" descr="solu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42062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" y="4937760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Processes real sensor data</a:t>
            </a:r>
            <a:endParaRPr lang="en-US" sz="1400" dirty="0"/>
          </a:p>
        </p:txBody>
      </p:sp>
      <p:sp>
        <p:nvSpPr>
          <p:cNvPr id="12" name="solution card 2"/>
          <p:cNvSpPr/>
          <p:nvPr/>
        </p:nvSpPr>
        <p:spPr>
          <a:xfrm>
            <a:off x="2743200" y="3840480"/>
            <a:ext cx="2130552" cy="2331720"/>
          </a:xfrm>
          <a:prstGeom prst="roundRect">
            <a:avLst>
              <a:gd name="adj" fmla="val 42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3" name="solution icon 2 circle"/>
          <p:cNvSpPr/>
          <p:nvPr/>
        </p:nvSpPr>
        <p:spPr>
          <a:xfrm>
            <a:off x="3442716" y="4023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solution icon 2" descr="solu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4206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80360" y="4937760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Monitors temperature and vibration</a:t>
            </a:r>
            <a:endParaRPr lang="en-US" sz="1400" dirty="0"/>
          </a:p>
        </p:txBody>
      </p:sp>
      <p:sp>
        <p:nvSpPr>
          <p:cNvPr id="16" name="solution card 3"/>
          <p:cNvSpPr/>
          <p:nvPr/>
        </p:nvSpPr>
        <p:spPr>
          <a:xfrm>
            <a:off x="5029200" y="3840480"/>
            <a:ext cx="2130552" cy="2331720"/>
          </a:xfrm>
          <a:prstGeom prst="roundRect">
            <a:avLst>
              <a:gd name="adj" fmla="val 42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7" name="solution icon 3 circle"/>
          <p:cNvSpPr/>
          <p:nvPr/>
        </p:nvSpPr>
        <p:spPr>
          <a:xfrm>
            <a:off x="5728716" y="4023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solution icon 3" descr="solu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42062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4937760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Compares sensor values with health thresholds</a:t>
            </a:r>
            <a:endParaRPr lang="en-US" sz="1400" dirty="0"/>
          </a:p>
        </p:txBody>
      </p:sp>
      <p:sp>
        <p:nvSpPr>
          <p:cNvPr id="20" name="solution card 4"/>
          <p:cNvSpPr/>
          <p:nvPr/>
        </p:nvSpPr>
        <p:spPr>
          <a:xfrm>
            <a:off x="7315200" y="3840480"/>
            <a:ext cx="2130552" cy="2331720"/>
          </a:xfrm>
          <a:prstGeom prst="roundRect">
            <a:avLst>
              <a:gd name="adj" fmla="val 42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solution icon 4 circle"/>
          <p:cNvSpPr/>
          <p:nvPr/>
        </p:nvSpPr>
        <p:spPr>
          <a:xfrm>
            <a:off x="8014716" y="4023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solution icon 4" descr="solution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42062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52360" y="4937760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Classifies machine condition using Machine Learning</a:t>
            </a:r>
            <a:endParaRPr lang="en-US" sz="1400" dirty="0"/>
          </a:p>
        </p:txBody>
      </p:sp>
      <p:sp>
        <p:nvSpPr>
          <p:cNvPr id="24" name="solution card 5"/>
          <p:cNvSpPr/>
          <p:nvPr/>
        </p:nvSpPr>
        <p:spPr>
          <a:xfrm>
            <a:off x="9601200" y="3840480"/>
            <a:ext cx="2130552" cy="2331720"/>
          </a:xfrm>
          <a:prstGeom prst="roundRect">
            <a:avLst>
              <a:gd name="adj" fmla="val 42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5" name="solution icon 5 circle"/>
          <p:cNvSpPr/>
          <p:nvPr/>
        </p:nvSpPr>
        <p:spPr>
          <a:xfrm>
            <a:off x="10300716" y="4023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olution icon 5" descr="solution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596" y="42062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38360" y="4937760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Provides visual health monitoring and maintenance indications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3716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objective icon 1 circle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jective icon 1" descr="objectiv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182112" y="1600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Monitor machine temperature using thermocouple sensors.</a:t>
            </a:r>
            <a:endParaRPr lang="en-US" sz="1600" dirty="0"/>
          </a:p>
        </p:txBody>
      </p:sp>
      <p:sp>
        <p:nvSpPr>
          <p:cNvPr id="8" name="objective card 2"/>
          <p:cNvSpPr/>
          <p:nvPr/>
        </p:nvSpPr>
        <p:spPr>
          <a:xfrm>
            <a:off x="4274820" y="13716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9" name="objective icon 2 circle"/>
          <p:cNvSpPr/>
          <p:nvPr/>
        </p:nvSpPr>
        <p:spPr>
          <a:xfrm>
            <a:off x="450342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objective icon 2" descr="objectiv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9732" y="1600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4503420" y="25146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Monitor machine vibration using accelerometer features.</a:t>
            </a:r>
            <a:endParaRPr lang="en-US" sz="1600" dirty="0"/>
          </a:p>
        </p:txBody>
      </p:sp>
      <p:sp>
        <p:nvSpPr>
          <p:cNvPr id="13" name="objective card 3"/>
          <p:cNvSpPr/>
          <p:nvPr/>
        </p:nvSpPr>
        <p:spPr>
          <a:xfrm>
            <a:off x="8092440" y="13716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objective icon 3 circle"/>
          <p:cNvSpPr/>
          <p:nvPr/>
        </p:nvSpPr>
        <p:spPr>
          <a:xfrm>
            <a:off x="83210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bjective icon 3" descr="objectiv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817352" y="1600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Preprocess and clean real-world sensor data.</a:t>
            </a:r>
            <a:endParaRPr lang="en-US" sz="1600" dirty="0"/>
          </a:p>
        </p:txBody>
      </p:sp>
      <p:sp>
        <p:nvSpPr>
          <p:cNvPr id="18" name="objective card 4"/>
          <p:cNvSpPr/>
          <p:nvPr/>
        </p:nvSpPr>
        <p:spPr>
          <a:xfrm>
            <a:off x="457200" y="38862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objective icon 4 circle"/>
          <p:cNvSpPr/>
          <p:nvPr/>
        </p:nvSpPr>
        <p:spPr>
          <a:xfrm>
            <a:off x="685800" y="4114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objective icon 4" descr="objectiv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97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182112" y="4114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5029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Define healthy, warning and critical monitoring zones.</a:t>
            </a:r>
            <a:endParaRPr lang="en-US" sz="1600" dirty="0"/>
          </a:p>
        </p:txBody>
      </p:sp>
      <p:sp>
        <p:nvSpPr>
          <p:cNvPr id="23" name="objective card 5"/>
          <p:cNvSpPr/>
          <p:nvPr/>
        </p:nvSpPr>
        <p:spPr>
          <a:xfrm>
            <a:off x="4274820" y="38862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4" name="objective icon 5 circle"/>
          <p:cNvSpPr/>
          <p:nvPr/>
        </p:nvSpPr>
        <p:spPr>
          <a:xfrm>
            <a:off x="4503420" y="4114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objective icon 5" descr="objectiv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2976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99732" y="4114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05</a:t>
            </a:r>
            <a:endParaRPr lang="en-US" sz="2800" dirty="0"/>
          </a:p>
        </p:txBody>
      </p:sp>
      <p:sp>
        <p:nvSpPr>
          <p:cNvPr id="27" name="Text 20"/>
          <p:cNvSpPr txBox="1"/>
          <p:nvPr/>
        </p:nvSpPr>
        <p:spPr>
          <a:xfrm>
            <a:off x="4503420" y="5029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Classify machine operating conditions using Random Forest.</a:t>
            </a:r>
            <a:endParaRPr lang="en-US" sz="1600" dirty="0"/>
          </a:p>
        </p:txBody>
      </p:sp>
      <p:sp>
        <p:nvSpPr>
          <p:cNvPr id="28" name="objective card 6"/>
          <p:cNvSpPr/>
          <p:nvPr/>
        </p:nvSpPr>
        <p:spPr>
          <a:xfrm>
            <a:off x="8092440" y="388620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9" name="objective icon 6 circle"/>
          <p:cNvSpPr/>
          <p:nvPr/>
        </p:nvSpPr>
        <p:spPr>
          <a:xfrm>
            <a:off x="8321040" y="4114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objective icon 6" descr="objectiv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976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817352" y="4114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06</a:t>
            </a:r>
            <a:endParaRPr lang="en-US" sz="2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292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Visualize machine health trends for predictive maintenance.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 and Sensor Data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393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08176"/>
            <a:ext cx="3310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2083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records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274820" y="1280160"/>
            <a:ext cx="36393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9412" y="1408176"/>
            <a:ext cx="3310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33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original columns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092440" y="1280160"/>
            <a:ext cx="36393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57032" y="1408176"/>
            <a:ext cx="3310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machine health conditions</a:t>
            </a:r>
            <a:endParaRPr lang="en-US" sz="1400" dirty="0"/>
          </a:p>
        </p:txBody>
      </p:sp>
      <p:sp>
        <p:nvSpPr>
          <p:cNvPr id="9" name="dataset card"/>
          <p:cNvSpPr/>
          <p:nvPr/>
        </p:nvSpPr>
        <p:spPr>
          <a:xfrm>
            <a:off x="457200" y="2651760"/>
            <a:ext cx="11274552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UTK-ASL Digital Twin Predictive Maintenance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Cutsforth InsightCM – final.csv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3429000"/>
            <a:ext cx="36393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557016"/>
            <a:ext cx="3310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Temperature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thermocouples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274820" y="3429000"/>
            <a:ext cx="36393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9412" y="3557016"/>
            <a:ext cx="3310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Vibration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accelerometers: RMS, Peak, Peak-to-Peak, Crest Factor and other vibration measurements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092440" y="3429000"/>
            <a:ext cx="36393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3557016"/>
            <a:ext cx="3310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Other recorded information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Tachometer speed, voltage, timestamp, machine status</a:t>
            </a:r>
            <a:endParaRPr lang="en-US" sz="1400" dirty="0"/>
          </a:p>
        </p:txBody>
      </p:sp>
      <p:sp>
        <p:nvSpPr>
          <p:cNvPr id="17" name="flow Sensors"/>
          <p:cNvSpPr/>
          <p:nvPr/>
        </p:nvSpPr>
        <p:spPr>
          <a:xfrm>
            <a:off x="457200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Sensors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96719" y="5513832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low Data Collection"/>
          <p:cNvSpPr/>
          <p:nvPr/>
        </p:nvSpPr>
        <p:spPr>
          <a:xfrm>
            <a:off x="2392070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5222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31590" y="5513832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Preprocessing"/>
          <p:cNvSpPr/>
          <p:nvPr/>
        </p:nvSpPr>
        <p:spPr>
          <a:xfrm>
            <a:off x="4326941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00093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66460" y="5513832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flow Threshold Analysis"/>
          <p:cNvSpPr/>
          <p:nvPr/>
        </p:nvSpPr>
        <p:spPr>
          <a:xfrm>
            <a:off x="6261811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4963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Threshold Analysis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1330" y="5513832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flow ML Classification"/>
          <p:cNvSpPr/>
          <p:nvPr/>
        </p:nvSpPr>
        <p:spPr>
          <a:xfrm>
            <a:off x="8196682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9834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 Classification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36201" y="5513832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flow Machine Health Dashboard"/>
          <p:cNvSpPr/>
          <p:nvPr/>
        </p:nvSpPr>
        <p:spPr>
          <a:xfrm>
            <a:off x="10131552" y="5120640"/>
            <a:ext cx="160020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04704" y="51206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Machine Health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Preprocessing Pipeline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457200" y="13258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Raw Sensor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31236" y="17373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2"/>
          <p:cNvSpPr/>
          <p:nvPr/>
        </p:nvSpPr>
        <p:spPr>
          <a:xfrm>
            <a:off x="3392424" y="13258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75304" y="1325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Datetime Conversion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6460" y="17373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3"/>
          <p:cNvSpPr/>
          <p:nvPr/>
        </p:nvSpPr>
        <p:spPr>
          <a:xfrm>
            <a:off x="6327648" y="13258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325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Missing Value Detection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01684" y="17373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4"/>
          <p:cNvSpPr/>
          <p:nvPr/>
        </p:nvSpPr>
        <p:spPr>
          <a:xfrm>
            <a:off x="9262872" y="13258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45752" y="1325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Remove Unusable Column</a:t>
            </a:r>
            <a:endParaRPr lang="en-US" sz="1400" dirty="0"/>
          </a:p>
        </p:txBody>
      </p:sp>
      <p:sp>
        <p:nvSpPr>
          <p:cNvPr id="14" name="step 5"/>
          <p:cNvSpPr/>
          <p:nvPr/>
        </p:nvSpPr>
        <p:spPr>
          <a:xfrm>
            <a:off x="457200" y="26974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Median Imputation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31236" y="31089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6"/>
          <p:cNvSpPr/>
          <p:nvPr/>
        </p:nvSpPr>
        <p:spPr>
          <a:xfrm>
            <a:off x="3392424" y="26974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5304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 Selection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66460" y="31089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7"/>
          <p:cNvSpPr/>
          <p:nvPr/>
        </p:nvSpPr>
        <p:spPr>
          <a:xfrm>
            <a:off x="6327648" y="26974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Train-Test Split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01684" y="310896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tep 8"/>
          <p:cNvSpPr/>
          <p:nvPr/>
        </p:nvSpPr>
        <p:spPr>
          <a:xfrm>
            <a:off x="9262872" y="269748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45752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08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Random Forest Model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57200" y="4160520"/>
            <a:ext cx="24688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4288536"/>
            <a:ext cx="2139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Median imputation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numerical sensor readings were handled using median imputation.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3392424" y="4160520"/>
            <a:ext cx="24688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57016" y="4288536"/>
            <a:ext cx="2139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Column removed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Tachometer_Gap_volt was removed because the column had no usable values.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327648" y="4160520"/>
            <a:ext cx="24688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288536"/>
            <a:ext cx="2139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Feature selection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 and vibration features were selected for the health analysis.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9262872" y="4160520"/>
            <a:ext cx="24688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27464" y="4288536"/>
            <a:ext cx="21396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Train-test split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stratified 80:20 train-test split was used for classification.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Threshold-Based Machine Health Monitoring</a:t>
            </a:r>
            <a:endParaRPr lang="en-US" sz="3600" dirty="0"/>
          </a:p>
        </p:txBody>
      </p:sp>
      <p:sp>
        <p:nvSpPr>
          <p:cNvPr id="3" name="zone SAFE"/>
          <p:cNvSpPr/>
          <p:nvPr/>
        </p:nvSpPr>
        <p:spPr>
          <a:xfrm>
            <a:off x="457200" y="1280160"/>
            <a:ext cx="3639312" cy="160020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4475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4173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behaviour close to the healthy baseline.</a:t>
            </a:r>
            <a:endParaRPr lang="en-US" sz="1400" dirty="0"/>
          </a:p>
        </p:txBody>
      </p:sp>
      <p:sp>
        <p:nvSpPr>
          <p:cNvPr id="7" name="zone WARNING"/>
          <p:cNvSpPr/>
          <p:nvPr/>
        </p:nvSpPr>
        <p:spPr>
          <a:xfrm>
            <a:off x="4274820" y="1280160"/>
            <a:ext cx="3639312" cy="1600200"/>
          </a:xfrm>
          <a:prstGeom prst="roundRect">
            <a:avLst>
              <a:gd name="adj" fmla="val 5714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7700" y="144475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1748" y="14173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WARNING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57700" y="18745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Sensor value has increased above the warning threshold and requires monitoring.</a:t>
            </a:r>
            <a:endParaRPr lang="en-US" sz="1400" dirty="0"/>
          </a:p>
        </p:txBody>
      </p:sp>
      <p:sp>
        <p:nvSpPr>
          <p:cNvPr id="11" name="zone CRITICAL"/>
          <p:cNvSpPr/>
          <p:nvPr/>
        </p:nvSpPr>
        <p:spPr>
          <a:xfrm>
            <a:off x="8092440" y="1280160"/>
            <a:ext cx="3639312" cy="1600200"/>
          </a:xfrm>
          <a:prstGeom prst="roundRect">
            <a:avLst>
              <a:gd name="adj" fmla="val 5714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44475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59368" y="14173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CRITICAL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187452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Sensor value has crossed the critical threshold and requires attention.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Dataset-derived baseline thresholds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7455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Healthy baseline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Warning threshold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Critical threshold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Temperature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73.37 °F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76.47 °F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77.24 °F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Vibration (RMS)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0.0897 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0.0937 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0.0947 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hreshold note"/>
          <p:cNvSpPr/>
          <p:nvPr/>
        </p:nvSpPr>
        <p:spPr>
          <a:xfrm>
            <a:off x="457200" y="5166360"/>
            <a:ext cx="11274552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ote icon circle"/>
          <p:cNvSpPr/>
          <p:nvPr/>
        </p:nvSpPr>
        <p:spPr>
          <a:xfrm>
            <a:off x="685800" y="5440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note icon" descr="no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556641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71600" y="516636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Important: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these thresholds are dataset-derived monitoring indicators and are NOT manufacturer-defined safety limits.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7-Day Machine Health Monitoring</a:t>
            </a:r>
            <a:endParaRPr lang="en-US" sz="3600" dirty="0"/>
          </a:p>
        </p:txBody>
      </p:sp>
      <p:pic>
        <p:nvPicPr>
          <p:cNvPr id="3" name="graph" descr="7-Day Machine Health Monitoring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3968710"/>
          </a:xfrm>
          <a:prstGeom prst="rect">
            <a:avLst/>
          </a:prstGeom>
        </p:spPr>
      </p:pic>
      <p:sp>
        <p:nvSpPr>
          <p:cNvPr id="4" name="chip 01 Aug"/>
          <p:cNvSpPr/>
          <p:nvPr/>
        </p:nvSpPr>
        <p:spPr>
          <a:xfrm>
            <a:off x="457200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6" name="chip 02 Aug"/>
          <p:cNvSpPr/>
          <p:nvPr/>
        </p:nvSpPr>
        <p:spPr>
          <a:xfrm>
            <a:off x="1538805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38805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8" name="chip 03 Aug"/>
          <p:cNvSpPr/>
          <p:nvPr/>
        </p:nvSpPr>
        <p:spPr>
          <a:xfrm>
            <a:off x="2620409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20409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0" name="chip 04 Aug"/>
          <p:cNvSpPr/>
          <p:nvPr/>
        </p:nvSpPr>
        <p:spPr>
          <a:xfrm>
            <a:off x="3702014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2014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04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2" name="chip 05 Aug"/>
          <p:cNvSpPr/>
          <p:nvPr/>
        </p:nvSpPr>
        <p:spPr>
          <a:xfrm>
            <a:off x="4783618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3618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05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14" name="chip 06 Aug"/>
          <p:cNvSpPr/>
          <p:nvPr/>
        </p:nvSpPr>
        <p:spPr>
          <a:xfrm>
            <a:off x="5865223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65223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06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16" name="chip 07 Aug"/>
          <p:cNvSpPr/>
          <p:nvPr/>
        </p:nvSpPr>
        <p:spPr>
          <a:xfrm>
            <a:off x="6946827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6827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07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229600" y="1371600"/>
            <a:ext cx="350215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94192" y="1499616"/>
            <a:ext cx="317296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 observation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Machine health changes across the monitoring period, with critical conditions appearing on 02 Aug, 06 Aug and 07 Aug.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229600" y="3566160"/>
            <a:ext cx="350215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94192" y="3694176"/>
            <a:ext cx="3172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 5 days with data are CRITICAL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229600" y="4937760"/>
            <a:ext cx="3502152" cy="1490472"/>
          </a:xfrm>
          <a:prstGeom prst="roundRect">
            <a:avLst>
              <a:gd name="adj" fmla="val 6135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4192" y="5065776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NO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03 Aug and 04 Aug are shown as NO DATA. They are not treated as healthy or faulty.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7-Day Machine Temperature Health Analysis</a:t>
            </a:r>
            <a:endParaRPr lang="en-US" sz="3600" dirty="0"/>
          </a:p>
        </p:txBody>
      </p:sp>
      <p:pic>
        <p:nvPicPr>
          <p:cNvPr id="3" name="graph" descr="7-Day Machine Temperature Health Analysis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3968710"/>
          </a:xfrm>
          <a:prstGeom prst="rect">
            <a:avLst/>
          </a:prstGeom>
        </p:spPr>
      </p:pic>
      <p:sp>
        <p:nvSpPr>
          <p:cNvPr id="4" name="chip 01 Aug"/>
          <p:cNvSpPr/>
          <p:nvPr/>
        </p:nvSpPr>
        <p:spPr>
          <a:xfrm>
            <a:off x="457200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73.37 °F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6" name="chip 02 Aug"/>
          <p:cNvSpPr/>
          <p:nvPr/>
        </p:nvSpPr>
        <p:spPr>
          <a:xfrm>
            <a:off x="1538805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38805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72.76 °F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8" name="chip 03 Aug"/>
          <p:cNvSpPr/>
          <p:nvPr/>
        </p:nvSpPr>
        <p:spPr>
          <a:xfrm>
            <a:off x="2620409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20409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0" name="chip 04 Aug"/>
          <p:cNvSpPr/>
          <p:nvPr/>
        </p:nvSpPr>
        <p:spPr>
          <a:xfrm>
            <a:off x="3702014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2014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04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2" name="chip 05 Aug"/>
          <p:cNvSpPr/>
          <p:nvPr/>
        </p:nvSpPr>
        <p:spPr>
          <a:xfrm>
            <a:off x="4783618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3618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05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76.21 °F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14" name="chip 06 Aug"/>
          <p:cNvSpPr/>
          <p:nvPr/>
        </p:nvSpPr>
        <p:spPr>
          <a:xfrm>
            <a:off x="5865223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65223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06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78.71 °F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16" name="chip 07 Aug"/>
          <p:cNvSpPr/>
          <p:nvPr/>
        </p:nvSpPr>
        <p:spPr>
          <a:xfrm>
            <a:off x="6946827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6827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07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77.89 °F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229600" y="1371600"/>
            <a:ext cx="350215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94192" y="1499616"/>
            <a:ext cx="317296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 observation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 stays close to the healthy baseline during the initial period, rises significantly on 06 Aug and remains above the critical threshold on 07 Aug.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229600" y="3794760"/>
            <a:ext cx="350215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94192" y="3922776"/>
            <a:ext cx="31729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77.24 °F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critical threshold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229600" y="5120640"/>
            <a:ext cx="3502152" cy="1124712"/>
          </a:xfrm>
          <a:prstGeom prst="roundRect">
            <a:avLst>
              <a:gd name="adj" fmla="val 813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4192" y="5248656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NO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03 Aug and 04 Aug have no readings.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7-Day Machine Vibration Health Analysis</a:t>
            </a:r>
            <a:endParaRPr lang="en-US" sz="3600" dirty="0"/>
          </a:p>
        </p:txBody>
      </p:sp>
      <p:pic>
        <p:nvPicPr>
          <p:cNvPr id="3" name="graph" descr="7-Day Machine Vibration Health Analysis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98080" cy="3968710"/>
          </a:xfrm>
          <a:prstGeom prst="rect">
            <a:avLst/>
          </a:prstGeom>
        </p:spPr>
      </p:pic>
      <p:sp>
        <p:nvSpPr>
          <p:cNvPr id="4" name="chip 01 Aug"/>
          <p:cNvSpPr/>
          <p:nvPr/>
        </p:nvSpPr>
        <p:spPr>
          <a:xfrm>
            <a:off x="457200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0.0897 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6" name="chip 02 Aug"/>
          <p:cNvSpPr/>
          <p:nvPr/>
        </p:nvSpPr>
        <p:spPr>
          <a:xfrm>
            <a:off x="1538805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38805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0.0974 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8" name="chip 03 Aug"/>
          <p:cNvSpPr/>
          <p:nvPr/>
        </p:nvSpPr>
        <p:spPr>
          <a:xfrm>
            <a:off x="2620409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20409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0" name="chip 04 Aug"/>
          <p:cNvSpPr/>
          <p:nvPr/>
        </p:nvSpPr>
        <p:spPr>
          <a:xfrm>
            <a:off x="3702014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2014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04 Aug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 DATA</a:t>
            </a:r>
            <a:endParaRPr lang="en-US" sz="1400" dirty="0"/>
          </a:p>
        </p:txBody>
      </p:sp>
      <p:sp>
        <p:nvSpPr>
          <p:cNvPr id="12" name="chip 05 Aug"/>
          <p:cNvSpPr/>
          <p:nvPr/>
        </p:nvSpPr>
        <p:spPr>
          <a:xfrm>
            <a:off x="4783618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3618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05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0.0859 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14" name="chip 06 Aug"/>
          <p:cNvSpPr/>
          <p:nvPr/>
        </p:nvSpPr>
        <p:spPr>
          <a:xfrm>
            <a:off x="5865223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65223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06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0.0924 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SAFE</a:t>
            </a:r>
            <a:endParaRPr lang="en-US" sz="1400" dirty="0"/>
          </a:p>
        </p:txBody>
      </p:sp>
      <p:sp>
        <p:nvSpPr>
          <p:cNvPr id="16" name="chip 07 Aug"/>
          <p:cNvSpPr/>
          <p:nvPr/>
        </p:nvSpPr>
        <p:spPr>
          <a:xfrm>
            <a:off x="6946827" y="5468112"/>
            <a:ext cx="1008453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6827" y="5468112"/>
            <a:ext cx="100845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07 Aug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0.1149 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229600" y="1371600"/>
            <a:ext cx="350215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94192" y="1499616"/>
            <a:ext cx="317296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 observation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Vibration rises significantly on 02 Aug and especially on 07 Aug, where it reaches 0.1149 g and exceeds the critical threshold.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229600" y="3657600"/>
            <a:ext cx="350215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94192" y="3785616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0.1149 g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07 Aug peak (critical: 0.0947 g)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229600" y="4937760"/>
            <a:ext cx="3502152" cy="1307592"/>
          </a:xfrm>
          <a:prstGeom prst="roundRect">
            <a:avLst>
              <a:gd name="adj" fmla="val 6993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4192" y="5065776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Thresholds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 0.0897 g, warning 0.0937 g. 06 Aug (0.0924 g) is below warning.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Machine Health Classification using Random Forest</a:t>
            </a:r>
            <a:endParaRPr lang="en-US" sz="3600" dirty="0"/>
          </a:p>
        </p:txBody>
      </p:sp>
      <p:sp>
        <p:nvSpPr>
          <p:cNvPr id="3" name="ml Input"/>
          <p:cNvSpPr/>
          <p:nvPr/>
        </p:nvSpPr>
        <p:spPr>
          <a:xfrm>
            <a:off x="45720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INPUT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Temperature and vibration sensor features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09444" y="187452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l Algorithm"/>
          <p:cNvSpPr/>
          <p:nvPr/>
        </p:nvSpPr>
        <p:spPr>
          <a:xfrm>
            <a:off x="269748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325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ALGORITHM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Random Forest Classifier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49724" y="1874520"/>
            <a:ext cx="25603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l Output"/>
          <p:cNvSpPr/>
          <p:nvPr/>
        </p:nvSpPr>
        <p:spPr>
          <a:xfrm>
            <a:off x="493776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325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OUTPUT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Machine health condition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angular_misalignment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324612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imbalance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379476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looseness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4434840"/>
            <a:ext cx="64008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562856"/>
            <a:ext cx="60716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Random Forest?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well with tabular sensor data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nonlinear relationships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Robust for multiple sensor features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Provides reliable classification for this dataset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7223760" y="1325880"/>
            <a:ext cx="2162556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88352" y="1453896"/>
            <a:ext cx="18333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99.76%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Accuracy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9569196" y="1325880"/>
            <a:ext cx="2162556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3788" y="1453896"/>
            <a:ext cx="18333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99.76%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7223760" y="2880360"/>
            <a:ext cx="2162556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88352" y="3008376"/>
            <a:ext cx="18333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99.76%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Recall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9569196" y="2880360"/>
            <a:ext cx="2162556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3788" y="3008376"/>
            <a:ext cx="18333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99.76%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F1-score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7223760" y="4434840"/>
            <a:ext cx="4507992" cy="1783080"/>
          </a:xfrm>
          <a:prstGeom prst="roundRect">
            <a:avLst>
              <a:gd name="adj" fmla="val 5128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88352" y="4562856"/>
            <a:ext cx="417880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Stratified 80:20 train-test split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99.76% is the result on the current stratified hold-out test set, not a guarantee of real-world machine performance.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 Evaluation – Confusion Matrix</a:t>
            </a:r>
            <a:endParaRPr lang="en-US" sz="3600" dirty="0"/>
          </a:p>
        </p:txBody>
      </p:sp>
      <p:pic>
        <p:nvPicPr>
          <p:cNvPr id="3" name="confusion matrix" descr="Confusion matrix of machine health classif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852160" cy="481203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6583680" y="1325880"/>
            <a:ext cx="1581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48272" y="1453896"/>
            <a:ext cx="1252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417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samples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8366760" y="1325880"/>
            <a:ext cx="1581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31352" y="1453896"/>
            <a:ext cx="1252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416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correct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10149840" y="1325880"/>
            <a:ext cx="15819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314432" y="1453896"/>
            <a:ext cx="1252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incorrect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606040"/>
          <a:ext cx="51480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23134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Actual class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angular_misalignment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1 predicted as imbalance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imbalance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looseness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card"/>
          <p:cNvSpPr/>
          <p:nvPr/>
        </p:nvSpPr>
        <p:spPr>
          <a:xfrm>
            <a:off x="6583680" y="4572000"/>
            <a:ext cx="51480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48272" y="4700016"/>
            <a:ext cx="48188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one misclassification: a baseline sample predicted as imbalance. Accuracy: 99.76%.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583680" y="5577840"/>
            <a:ext cx="5148072" cy="685800"/>
          </a:xfrm>
          <a:prstGeom prst="roundRect">
            <a:avLst>
              <a:gd name="adj" fmla="val 13333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48272" y="5705856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 is on the current stratified hold-out test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Conclusion and Future Scope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53212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08176"/>
            <a:ext cx="5202936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 machine sensor data was successfully analyzed.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Temperature and vibration were used as important machine-health indicators.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Threshold analysis identified safe and critical monitoring periods.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Random Forest achieved 99.76% accuracy on the current hold-out test set.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system provides a foundation for predictive maintenance monitoring.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6199632" y="1280160"/>
            <a:ext cx="553212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64224" y="1408176"/>
            <a:ext cx="5202936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FUTURE SCOPE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Real-time IoT sensor integration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Continuous machine-health monitoring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Email/SMS maintenance alerts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Time-series based anomaly detection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Remaining Useful Life (RUL) prediction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Integration with industrial dashboards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Validation using data from different machines and operating conditions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UTK-ASL Digital Twin Predictive Maintenance Dataset (Cutsforth InsightCM, final.csv); predictive-maintenance research literature associated with the dataset.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AI">
  <a:themeElements>
    <a:clrScheme name="Industrial AI">
      <a:dk1>
        <a:srgbClr val="10243A"/>
      </a:dk1>
      <a:lt1>
        <a:srgbClr val="FFFFFF"/>
      </a:lt1>
      <a:dk2>
        <a:srgbClr val="0B1F33"/>
      </a:dk2>
      <a:lt2>
        <a:srgbClr val="EEF4F8"/>
      </a:lt2>
      <a:accent1>
        <a:srgbClr val="0FA3A3"/>
      </a:accent1>
      <a:accent2>
        <a:srgbClr val="1F6FB2"/>
      </a:accent2>
      <a:accent3>
        <a:srgbClr val="2E8B57"/>
      </a:accent3>
      <a:accent4>
        <a:srgbClr val="E0A100"/>
      </a:accent4>
      <a:accent5>
        <a:srgbClr val="C0392B"/>
      </a:accent5>
      <a:accent6>
        <a:srgbClr val="7A8896"/>
      </a:accent6>
      <a:hlink>
        <a:srgbClr val="1F6FB2"/>
      </a:hlink>
      <a:folHlink>
        <a:srgbClr val="7A8896"/>
      </a:folHlink>
    </a:clrScheme>
    <a:fontScheme name="Industrial 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Health Monitoring System</dc:title>
  <dc:subject>PptxGenJS Presentation</dc:subject>
  <dc:creator>EAI Lab Assignment</dc:creator>
  <cp:lastModifiedBy>EAI Lab Assignment</cp:lastModifiedBy>
  <cp:revision>1</cp:revision>
  <dcterms:created xsi:type="dcterms:W3CDTF">2026-10-04T05:23:28Z</dcterms:created>
  <dcterms:modified xsi:type="dcterms:W3CDTF">2026-10-04T05:23:28Z</dcterms:modified>
</cp:coreProperties>
</file>